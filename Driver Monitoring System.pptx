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0" r:id="rId9"/>
    <p:sldId id="265" r:id="rId10"/>
    <p:sldId id="268" r:id="rId11"/>
    <p:sldId id="267" r:id="rId12"/>
    <p:sldId id="266" r:id="rId13"/>
    <p:sldId id="270" r:id="rId14"/>
    <p:sldId id="269" r:id="rId15"/>
    <p:sldId id="272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4C85-D108-406C-8D23-38586856B15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46D48-4543-49D1-B3E7-94D6429EB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65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FA75-3B41-46B9-A636-F490AF23388C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14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32535-F050-43A6-9A93-159430595903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B39A-8F97-42C2-AECE-8F96A8FD9A24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33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83768-2AC4-43F8-9655-52A182EE6477}" type="datetime1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76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1717-8EE3-4BDF-8333-D5125AB3468B}" type="datetime1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56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111-8DC8-4C45-9316-DDA4D7B587E1}" type="datetime1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33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62B3-6F89-4D71-9618-726D27F5BD82}" type="datetime1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5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4668E-75A3-4218-82AB-512A535CEDCE}" type="datetime1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3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6D7C-B9DD-49E0-B8FC-978334BF24C8}" type="datetime1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97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1995-3FAA-4CB1-B4EB-2B46BDF50566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00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4C656-BCC3-48A1-8D99-48AC61804E5B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5192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05925-3C40-4580-BE68-5EF1178E04C8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431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7290-61E3-4797-B21B-ECB98EF06E1A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5837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72AC5-1704-4750-9CA9-DA924EE98405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317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71B-A030-44B6-9C68-DC2184D45A5D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350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AA24-C91B-4D41-A519-B354025934C1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66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45736-AF79-40FD-B722-ABC33425BF84}" type="datetime1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C1D74D8-7D47-4AAB-8FDA-7C67B39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15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52BB-3786-98EB-0F3F-00FB7BB9E4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Driver Monitoring System </a:t>
            </a:r>
            <a:br>
              <a:rPr lang="en-IN" dirty="0"/>
            </a:br>
            <a:r>
              <a:rPr lang="en-IN" sz="1600" dirty="0"/>
              <a:t>Real-Time Driver Alertness and Drowsiness Monitoring Using Facial Landmarks</a:t>
            </a:r>
            <a:endParaRPr lang="en-IN" sz="1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8A11B-EE35-E2FD-2C6C-904187F7F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3654" y="4631126"/>
            <a:ext cx="2020349" cy="1096899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Presented by:-</a:t>
            </a:r>
          </a:p>
          <a:p>
            <a:r>
              <a:rPr lang="en-IN" dirty="0"/>
              <a:t>Rani Uddarsh</a:t>
            </a:r>
          </a:p>
          <a:p>
            <a:r>
              <a:rPr lang="en-IN" dirty="0"/>
              <a:t>MTech Automotive Technology</a:t>
            </a:r>
            <a:br>
              <a:rPr lang="en-IN" dirty="0"/>
            </a:br>
            <a:br>
              <a:rPr lang="en-IN" dirty="0"/>
            </a:br>
            <a:r>
              <a:rPr lang="en-IN" dirty="0"/>
              <a:t>25070152008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943F76-CB7D-4514-32BE-96ABCEC1BD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C6A7D4B3-794F-F633-F406-E5BC31E2B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6482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6302-BF4B-DC77-E6F9-4DFF8822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9" y="1699846"/>
            <a:ext cx="6004819" cy="620395"/>
          </a:xfrm>
        </p:spPr>
        <p:txBody>
          <a:bodyPr>
            <a:normAutofit fontScale="90000"/>
          </a:bodyPr>
          <a:lstStyle/>
          <a:p>
            <a:r>
              <a:rPr lang="en-IN" dirty="0"/>
              <a:t>Driver Monitoring System (DMS)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5C205-2E1B-29DC-C172-9BA04089E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00301"/>
            <a:ext cx="5090420" cy="4006186"/>
          </a:xfrm>
        </p:spPr>
        <p:txBody>
          <a:bodyPr>
            <a:normAutofit/>
          </a:bodyPr>
          <a:lstStyle/>
          <a:p>
            <a:pPr algn="just"/>
            <a:r>
              <a:rPr lang="en-IN" sz="1600" dirty="0"/>
              <a:t>A Driver Monitoring System is an intelligent in-cabin safety system built to continuously monitor the driver’s behaviour and psychological conditions to detect any fatigue, distraction or reduced alertness.</a:t>
            </a:r>
          </a:p>
          <a:p>
            <a:pPr algn="just"/>
            <a:r>
              <a:rPr lang="en-IN" sz="1600" b="1" u="sng" dirty="0"/>
              <a:t>Purpose: </a:t>
            </a:r>
            <a:endParaRPr lang="en-IN" sz="1100" b="1" u="sng" dirty="0"/>
          </a:p>
          <a:p>
            <a:pPr lvl="1" algn="just"/>
            <a:r>
              <a:rPr lang="en-IN" sz="1400" dirty="0"/>
              <a:t>Improve Driver Safety.</a:t>
            </a:r>
          </a:p>
          <a:p>
            <a:pPr lvl="1" algn="just"/>
            <a:r>
              <a:rPr lang="en-IN" sz="1400" dirty="0"/>
              <a:t>Reduce fatigue related accidents .</a:t>
            </a:r>
          </a:p>
          <a:p>
            <a:pPr lvl="1" algn="just"/>
            <a:r>
              <a:rPr lang="en-IN" sz="1400" dirty="0"/>
              <a:t>Provide early warning before unsafe driving occurs.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6F04E-2DEF-2CE6-CFED-6BB83A5597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1AD2DD43-F1BF-E08E-864A-EBC0570C7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76ED3-54AE-439C-85EA-BCEE61FC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8D979-89B7-D83D-1116-912A4C1D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629280-3917-B510-FC31-A13C33C6A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40519"/>
            <a:ext cx="2901216" cy="190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36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2674-1F66-2607-1031-66730FFD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1431-7A0A-8450-E573-7F68220D5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Why DMS is required?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128D5-41EA-4F25-B9D1-E7D79B73A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98963"/>
            <a:ext cx="8596668" cy="3880773"/>
          </a:xfrm>
        </p:spPr>
        <p:txBody>
          <a:bodyPr/>
          <a:lstStyle/>
          <a:p>
            <a:r>
              <a:rPr lang="en-IN" b="1" dirty="0"/>
              <a:t>Major causes of Road accidents:</a:t>
            </a:r>
          </a:p>
          <a:p>
            <a:pPr lvl="1"/>
            <a:r>
              <a:rPr lang="en-IN" dirty="0"/>
              <a:t>Driver Fatigue.</a:t>
            </a:r>
          </a:p>
          <a:p>
            <a:pPr lvl="1"/>
            <a:r>
              <a:rPr lang="en-IN" dirty="0"/>
              <a:t>Distraction .</a:t>
            </a:r>
          </a:p>
          <a:p>
            <a:pPr lvl="1"/>
            <a:r>
              <a:rPr lang="en-IN" dirty="0"/>
              <a:t>Delayed Reaction Time due to Non attentiveness.</a:t>
            </a:r>
          </a:p>
          <a:p>
            <a:pPr lvl="1"/>
            <a:r>
              <a:rPr lang="en-IN" dirty="0"/>
              <a:t>Mobile Phone Usage.</a:t>
            </a:r>
          </a:p>
          <a:p>
            <a:r>
              <a:rPr lang="en-IN" b="1" dirty="0"/>
              <a:t>Need for DMS:</a:t>
            </a:r>
            <a:r>
              <a:rPr lang="en-IN" dirty="0"/>
              <a:t> Early Identification of unsafe driver behaviour prevents accidents </a:t>
            </a:r>
          </a:p>
          <a:p>
            <a:endParaRPr lang="en-IN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Modern vehicles use DMS as a part of active safety systems.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384A9-79D2-CFAE-813D-0F636E21C6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95C1A74A-CA1E-AAE7-1F3E-182D58F6C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5DBE6-0ACE-9C91-7CD8-79BD3004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4D276-06EE-E063-0141-EF70075B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81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C193-F1E3-6AE3-4A48-97136DBD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F8FE-A5F8-637A-79D1-D6C7DCC2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383" y="1248063"/>
            <a:ext cx="8596668" cy="1320800"/>
          </a:xfrm>
        </p:spPr>
        <p:txBody>
          <a:bodyPr/>
          <a:lstStyle/>
          <a:p>
            <a:r>
              <a:rPr lang="en-IN" dirty="0"/>
              <a:t>Basic Components of 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F9ABD-5563-BD4D-06F5-200CF747E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383" y="2028624"/>
            <a:ext cx="7818280" cy="372154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Hardware Components:</a:t>
            </a:r>
          </a:p>
          <a:p>
            <a:pPr lvl="1"/>
            <a:r>
              <a:rPr lang="en-IN" dirty="0"/>
              <a:t>Camera.</a:t>
            </a:r>
          </a:p>
          <a:p>
            <a:pPr lvl="1"/>
            <a:r>
              <a:rPr lang="en-IN" dirty="0"/>
              <a:t>Processing system.</a:t>
            </a:r>
          </a:p>
          <a:p>
            <a:pPr lvl="1"/>
            <a:r>
              <a:rPr lang="en-IN" dirty="0"/>
              <a:t>Audio Warning unit.</a:t>
            </a:r>
          </a:p>
          <a:p>
            <a:r>
              <a:rPr lang="en-IN" b="1" dirty="0"/>
              <a:t>Software Components:</a:t>
            </a:r>
          </a:p>
          <a:p>
            <a:pPr lvl="1"/>
            <a:r>
              <a:rPr lang="en-IN" dirty="0"/>
              <a:t>Python</a:t>
            </a:r>
          </a:p>
          <a:p>
            <a:pPr lvl="1"/>
            <a:r>
              <a:rPr lang="en-IN" dirty="0"/>
              <a:t>OpenCV</a:t>
            </a:r>
          </a:p>
          <a:p>
            <a:pPr lvl="1"/>
            <a:r>
              <a:rPr lang="en-IN" dirty="0"/>
              <a:t>Mediapipe</a:t>
            </a:r>
          </a:p>
          <a:p>
            <a:r>
              <a:rPr lang="en-IN" b="1" dirty="0"/>
              <a:t>Output:</a:t>
            </a:r>
          </a:p>
          <a:p>
            <a:pPr lvl="1"/>
            <a:r>
              <a:rPr lang="en-IN" dirty="0"/>
              <a:t>Visual Warning</a:t>
            </a:r>
          </a:p>
          <a:p>
            <a:pPr lvl="1"/>
            <a:r>
              <a:rPr lang="en-IN" dirty="0"/>
              <a:t>Audio Alert</a:t>
            </a:r>
          </a:p>
          <a:p>
            <a:pPr lvl="1"/>
            <a:r>
              <a:rPr lang="en-IN" dirty="0"/>
              <a:t>Event Recording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01510-DA45-BB32-5FD9-9C08AF8FC4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F697EB7B-C635-F450-9327-BBBA65A33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6F88E-397E-0306-7489-B92BC866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C01E1-F7D8-7940-18DA-4B6CFACE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540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95C2-BDF0-78BB-E4E6-299DF5E8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3C-9C72-A122-D554-79D2A912D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Basic Working Principle of 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D7A49-0C21-AEA4-F08E-ECF91BEE2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93456"/>
            <a:ext cx="8596668" cy="3880773"/>
          </a:xfrm>
        </p:spPr>
        <p:txBody>
          <a:bodyPr/>
          <a:lstStyle/>
          <a:p>
            <a:r>
              <a:rPr lang="en-IN" b="1" dirty="0"/>
              <a:t>Working Flow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A6C993-6AF3-E929-0B53-00B599A564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173F9A65-349D-7C0F-1FE2-B6DF2BF48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88371-CB54-3583-6267-A334A5F1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CE931-CA61-84D2-992F-9C3316A8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5</a:t>
            </a:fld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E1377E-0BD5-AA86-590C-8C9672D7F040}"/>
              </a:ext>
            </a:extLst>
          </p:cNvPr>
          <p:cNvGrpSpPr/>
          <p:nvPr/>
        </p:nvGrpSpPr>
        <p:grpSpPr>
          <a:xfrm>
            <a:off x="4790751" y="2484316"/>
            <a:ext cx="1318846" cy="3319615"/>
            <a:chOff x="1678273" y="2618895"/>
            <a:chExt cx="1318846" cy="331961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1D137F-4E52-EDCE-7D58-56633545A30C}"/>
                </a:ext>
              </a:extLst>
            </p:cNvPr>
            <p:cNvSpPr txBox="1"/>
            <p:nvPr/>
          </p:nvSpPr>
          <p:spPr>
            <a:xfrm>
              <a:off x="1678273" y="2618895"/>
              <a:ext cx="1318846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Driver Face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32D9C8-134B-0505-8755-BBF08E713589}"/>
                </a:ext>
              </a:extLst>
            </p:cNvPr>
            <p:cNvSpPr txBox="1"/>
            <p:nvPr/>
          </p:nvSpPr>
          <p:spPr>
            <a:xfrm>
              <a:off x="1678273" y="4620574"/>
              <a:ext cx="1318846" cy="5232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Driver State Analysis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BA684B-C5AB-29CC-7831-8F3AD58E27AF}"/>
                </a:ext>
              </a:extLst>
            </p:cNvPr>
            <p:cNvSpPr txBox="1"/>
            <p:nvPr/>
          </p:nvSpPr>
          <p:spPr>
            <a:xfrm>
              <a:off x="1678273" y="3259723"/>
              <a:ext cx="1318846" cy="33855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600" dirty="0"/>
                <a:t>Camera Input</a:t>
              </a:r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29FFB8-AEAA-419E-4091-E474E623B167}"/>
                </a:ext>
              </a:extLst>
            </p:cNvPr>
            <p:cNvSpPr txBox="1"/>
            <p:nvPr/>
          </p:nvSpPr>
          <p:spPr>
            <a:xfrm>
              <a:off x="1678273" y="5415290"/>
              <a:ext cx="1318846" cy="5232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Warning Generation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7FEA20-2E27-0B34-4332-BDE2CEF52608}"/>
                </a:ext>
              </a:extLst>
            </p:cNvPr>
            <p:cNvSpPr txBox="1"/>
            <p:nvPr/>
          </p:nvSpPr>
          <p:spPr>
            <a:xfrm>
              <a:off x="1678273" y="3869773"/>
              <a:ext cx="1318846" cy="46166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200" dirty="0"/>
                <a:t>Facial Landmark Detection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7E22D63-A902-83A9-0F6F-FCE29EF688E3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2337696" y="2988227"/>
              <a:ext cx="0" cy="271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8D51B46-FF59-8CC9-1AE7-DA1DF734020C}"/>
                </a:ext>
              </a:extLst>
            </p:cNvPr>
            <p:cNvCxnSpPr>
              <a:cxnSpLocks/>
            </p:cNvCxnSpPr>
            <p:nvPr/>
          </p:nvCxnSpPr>
          <p:spPr>
            <a:xfrm>
              <a:off x="2339569" y="3581175"/>
              <a:ext cx="0" cy="271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B604C66-863B-B296-0C4F-3D0B4B140112}"/>
                </a:ext>
              </a:extLst>
            </p:cNvPr>
            <p:cNvCxnSpPr>
              <a:cxnSpLocks/>
            </p:cNvCxnSpPr>
            <p:nvPr/>
          </p:nvCxnSpPr>
          <p:spPr>
            <a:xfrm>
              <a:off x="2337696" y="4349078"/>
              <a:ext cx="0" cy="271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9606D90-6D97-31AC-3073-44002148709E}"/>
                </a:ext>
              </a:extLst>
            </p:cNvPr>
            <p:cNvCxnSpPr>
              <a:cxnSpLocks/>
            </p:cNvCxnSpPr>
            <p:nvPr/>
          </p:nvCxnSpPr>
          <p:spPr>
            <a:xfrm>
              <a:off x="2337696" y="5143794"/>
              <a:ext cx="0" cy="271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843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D15A9-1A90-CD1E-844F-9DD4F866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5F46-D687-C273-1044-A8C3BC8B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Facial Landmark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2EE81-6CA7-9BC0-603F-379AD98D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11041"/>
            <a:ext cx="8596668" cy="3880773"/>
          </a:xfrm>
        </p:spPr>
        <p:txBody>
          <a:bodyPr/>
          <a:lstStyle/>
          <a:p>
            <a:r>
              <a:rPr lang="en-IN" b="1" dirty="0"/>
              <a:t>Face Mesh Concept</a:t>
            </a:r>
          </a:p>
          <a:p>
            <a:pPr lvl="1"/>
            <a:r>
              <a:rPr lang="en-IN" dirty="0"/>
              <a:t>Mediapipe Face Mesh provides 468 facial landmarks.</a:t>
            </a:r>
          </a:p>
          <a:p>
            <a:r>
              <a:rPr lang="en-IN" b="1" dirty="0"/>
              <a:t>Important Regions used</a:t>
            </a:r>
          </a:p>
          <a:p>
            <a:pPr lvl="1"/>
            <a:r>
              <a:rPr lang="en-IN" dirty="0"/>
              <a:t>Eyes</a:t>
            </a:r>
          </a:p>
          <a:p>
            <a:pPr lvl="1"/>
            <a:r>
              <a:rPr lang="en-IN" dirty="0"/>
              <a:t>Mouth </a:t>
            </a:r>
          </a:p>
          <a:p>
            <a:pPr lvl="1"/>
            <a:r>
              <a:rPr lang="en-IN" dirty="0"/>
              <a:t>Nose</a:t>
            </a:r>
          </a:p>
          <a:p>
            <a:r>
              <a:rPr lang="en-IN" b="1" dirty="0"/>
              <a:t>Why Landmarks?</a:t>
            </a:r>
          </a:p>
          <a:p>
            <a:pPr lvl="1"/>
            <a:r>
              <a:rPr lang="en-IN" dirty="0"/>
              <a:t>They allow geometric analysis of driver facial movement.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7CFC1-491F-ABB4-21F2-75FC9CF02C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CCAC5522-5ACC-39DA-8272-FB7FB0F99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94E29-8CF4-0132-2FAA-8D6F5151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376A4-9ACC-8A62-F591-553CAF82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5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7E79-1C36-40DE-88A1-3461E627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DBB8-6FCA-5C43-E7BF-AFFBDA2F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Eye Landmark References Used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0D623-3AE7-94E7-6A88-6054483AD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55002"/>
            <a:ext cx="8596668" cy="3880773"/>
          </a:xfrm>
        </p:spPr>
        <p:txBody>
          <a:bodyPr/>
          <a:lstStyle/>
          <a:p>
            <a:r>
              <a:rPr lang="en-IN" b="1" dirty="0"/>
              <a:t>Left Eye Landmarks:</a:t>
            </a:r>
          </a:p>
          <a:p>
            <a:pPr lvl="1"/>
            <a:r>
              <a:rPr lang="en-IN" dirty="0"/>
              <a:t>33, 160, 158, 133, 153, 144</a:t>
            </a:r>
          </a:p>
          <a:p>
            <a:r>
              <a:rPr lang="en-IN" b="1" dirty="0"/>
              <a:t>Landmark Meaning:</a:t>
            </a:r>
          </a:p>
          <a:p>
            <a:pPr lvl="1"/>
            <a:r>
              <a:rPr lang="en-IN" dirty="0"/>
              <a:t>33 and 133 </a:t>
            </a:r>
            <a:r>
              <a:rPr lang="en-IN" dirty="0">
                <a:sym typeface="Wingdings" panose="05000000000000000000" pitchFamily="2" charset="2"/>
              </a:rPr>
              <a:t> Eye Corners</a:t>
            </a:r>
          </a:p>
          <a:p>
            <a:pPr lvl="1"/>
            <a:r>
              <a:rPr lang="en-IN" dirty="0">
                <a:sym typeface="Wingdings" panose="05000000000000000000" pitchFamily="2" charset="2"/>
              </a:rPr>
              <a:t>160 and 158  Upper Eyelid</a:t>
            </a:r>
          </a:p>
          <a:p>
            <a:pPr lvl="1"/>
            <a:r>
              <a:rPr lang="en-IN" dirty="0">
                <a:sym typeface="Wingdings" panose="05000000000000000000" pitchFamily="2" charset="2"/>
              </a:rPr>
              <a:t>153 and 144  Lower Eyelid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ym typeface="Wingdings" panose="05000000000000000000" pitchFamily="2" charset="2"/>
              </a:rPr>
              <a:t>These points are used to calculate eye opening and closing.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ym typeface="Wingdings" panose="05000000000000000000" pitchFamily="2" charset="2"/>
              </a:rPr>
              <a:t>Similar to left eye landmarks, there will be specific landmarks for right eye as well.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EC6B2-726C-D39C-A6C9-D9650B78B4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E6B7DAEF-FFC2-013D-EE78-0C1F33314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C5FAA-335C-4110-1DCC-31455A1E9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38AD6-791F-F30F-F1A5-B9CCCFDD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305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19E8-15AB-ED6C-2802-27E0023C3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A66C-406F-DBAD-11DC-FF132E2A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Eye Aspect Ratio (EAR)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EA15A-83EF-F45B-05A9-D2911CDFDA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2714425"/>
                <a:ext cx="8596668" cy="3880773"/>
              </a:xfrm>
            </p:spPr>
            <p:txBody>
              <a:bodyPr/>
              <a:lstStyle/>
              <a:p>
                <a:r>
                  <a:rPr lang="en-IN" dirty="0"/>
                  <a:t>EAR is a geometric ratio used to measure eye opening and closing.</a:t>
                </a:r>
              </a:p>
              <a:p>
                <a:r>
                  <a:rPr lang="en-IN" b="1" dirty="0"/>
                  <a:t>Formula to Calculate EAR:</a:t>
                </a:r>
              </a:p>
              <a:p>
                <a:pPr lvl="1"/>
                <a:r>
                  <a:rPr lang="en-IN" dirty="0"/>
                  <a:t>EAR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IN" dirty="0"/>
              </a:p>
              <a:p>
                <a:pPr lvl="2"/>
                <a:r>
                  <a:rPr lang="en-IN" dirty="0"/>
                  <a:t>Where, p</a:t>
                </a:r>
                <a:r>
                  <a:rPr lang="en-IN" baseline="-25000" dirty="0"/>
                  <a:t>1,2,3,…..6 </a:t>
                </a:r>
                <a:r>
                  <a:rPr lang="en-IN" dirty="0"/>
                  <a:t>are the eye landmark points.</a:t>
                </a:r>
              </a:p>
              <a:p>
                <a:r>
                  <a:rPr lang="en-IN" dirty="0"/>
                  <a:t>Lower the EAR value, that closed is the eyelid.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EA15A-83EF-F45B-05A9-D2911CDFDA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714425"/>
                <a:ext cx="8596668" cy="3880773"/>
              </a:xfrm>
              <a:blipFill>
                <a:blip r:embed="rId2"/>
                <a:stretch>
                  <a:fillRect l="-142" t="-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335CCCE-FF75-B382-933F-B9A710555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7D68FC8C-363E-AC87-43C0-2B6BA3FD4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1988B-31F9-2D82-C06C-597FD5CC7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C84D0-CE94-4C23-459D-F8160C58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66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23FA-0730-D765-B832-C1A292F7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5676-7868-2D45-6278-E5210D10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EAR Threshold Values referred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A5EA-32F4-9ED7-A4ED-5CCD4EFAB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997" y="1971100"/>
            <a:ext cx="8596668" cy="3880773"/>
          </a:xfrm>
        </p:spPr>
        <p:txBody>
          <a:bodyPr/>
          <a:lstStyle/>
          <a:p>
            <a:r>
              <a:rPr lang="en-IN" dirty="0"/>
              <a:t>Driver State Thresholds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Single blink is ignored by using frame-based decision logic.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815EB-6C90-DC99-0B33-590DCA0D44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F12B2CBF-5FA4-E483-48F1-F659D46D6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6F1B5-61FF-B0C6-94A2-B8EE6508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A88B6-2A3F-F108-144C-20297674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1563A5-C0A1-13E5-DC56-CA5147630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857094"/>
              </p:ext>
            </p:extLst>
          </p:nvPr>
        </p:nvGraphicFramePr>
        <p:xfrm>
          <a:off x="1239146" y="2501900"/>
          <a:ext cx="4008440" cy="1341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4220">
                  <a:extLst>
                    <a:ext uri="{9D8B030D-6E8A-4147-A177-3AD203B41FA5}">
                      <a16:colId xmlns:a16="http://schemas.microsoft.com/office/drawing/2014/main" val="3732167678"/>
                    </a:ext>
                  </a:extLst>
                </a:gridCol>
                <a:gridCol w="2004220">
                  <a:extLst>
                    <a:ext uri="{9D8B030D-6E8A-4147-A177-3AD203B41FA5}">
                      <a16:colId xmlns:a16="http://schemas.microsoft.com/office/drawing/2014/main" val="3587897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1" u="sng" dirty="0"/>
                        <a:t>Driver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1" u="sng" dirty="0"/>
                        <a:t>EAR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372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0" dirty="0"/>
                        <a:t>Alert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0"/>
                        <a:t>0.25 – 0.35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028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0" dirty="0"/>
                        <a:t>Mild Drowsiness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0" dirty="0"/>
                        <a:t>0.21 – 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293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0"/>
                        <a:t>Heavy Drowsiness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0" dirty="0"/>
                        <a:t>&lt; 0.20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9697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157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B7E31-4541-2B12-19A0-FB3EB6FD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647DD-59A3-EB21-3EAF-D9A46B2F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Multi-Level Drowsiness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6E848-63D1-EAC8-3DEC-665BD7EA6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37417"/>
            <a:ext cx="8596668" cy="3880773"/>
          </a:xfrm>
        </p:spPr>
        <p:txBody>
          <a:bodyPr/>
          <a:lstStyle/>
          <a:p>
            <a:r>
              <a:rPr lang="en-IN" b="1" dirty="0"/>
              <a:t>Logic Used:</a:t>
            </a:r>
          </a:p>
          <a:p>
            <a:pPr lvl="1"/>
            <a:r>
              <a:rPr lang="en-IN" dirty="0"/>
              <a:t>15 continuous frames </a:t>
            </a:r>
            <a:r>
              <a:rPr lang="en-IN" dirty="0">
                <a:sym typeface="Wingdings" panose="05000000000000000000" pitchFamily="2" charset="2"/>
              </a:rPr>
              <a:t> Mild Drowsiness</a:t>
            </a:r>
          </a:p>
          <a:p>
            <a:pPr lvl="1"/>
            <a:r>
              <a:rPr lang="en-IN" dirty="0">
                <a:sym typeface="Wingdings" panose="05000000000000000000" pitchFamily="2" charset="2"/>
              </a:rPr>
              <a:t>30 continuous frames  Heavy Drowsiness</a:t>
            </a:r>
          </a:p>
          <a:p>
            <a:r>
              <a:rPr lang="en-IN" dirty="0">
                <a:sym typeface="Wingdings" panose="05000000000000000000" pitchFamily="2" charset="2"/>
              </a:rPr>
              <a:t>Frame counting avoids false detection during normal blinking.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F92DE0-AC8C-93F8-F1AE-9DCAB4A47A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E52DE4D7-5967-F625-385D-160F476C5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B9352-4754-845C-72F0-5124D6C8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28E99-1916-F0E1-0599-8EB41C7D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053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8D0D3-7CE4-34C9-DA31-D872977E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1D22C-0FA1-4B9D-40F3-C4E79EBD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Head Position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8587A-5CE5-6B5F-414A-3C98E78E5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63794"/>
            <a:ext cx="8596668" cy="3880773"/>
          </a:xfrm>
        </p:spPr>
        <p:txBody>
          <a:bodyPr/>
          <a:lstStyle/>
          <a:p>
            <a:r>
              <a:rPr lang="en-IN" dirty="0"/>
              <a:t>Nose Landmark is used for head position estimation </a:t>
            </a:r>
          </a:p>
          <a:p>
            <a:r>
              <a:rPr lang="en-IN" b="1" dirty="0"/>
              <a:t>Head states:</a:t>
            </a:r>
          </a:p>
          <a:p>
            <a:pPr lvl="1"/>
            <a:r>
              <a:rPr lang="en-IN" dirty="0"/>
              <a:t>Looking left</a:t>
            </a:r>
          </a:p>
          <a:p>
            <a:pPr lvl="1"/>
            <a:r>
              <a:rPr lang="en-IN" dirty="0"/>
              <a:t>Looking right </a:t>
            </a:r>
          </a:p>
          <a:p>
            <a:pPr lvl="1"/>
            <a:r>
              <a:rPr lang="en-IN" dirty="0"/>
              <a:t>Looking down</a:t>
            </a:r>
          </a:p>
          <a:p>
            <a:pPr lvl="1"/>
            <a:r>
              <a:rPr lang="en-IN" dirty="0"/>
              <a:t>Center</a:t>
            </a:r>
          </a:p>
          <a:p>
            <a:r>
              <a:rPr lang="en-IN" dirty="0"/>
              <a:t>Head position detection helps detect distraction behaviour.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CACC2-03B0-5B3A-FC12-254959181E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AC4A568B-11F8-0EB4-A1C9-9E309B568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67717-BC1B-5085-1471-8ECA6958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11FD1-1C36-A306-D587-7F03D3CF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934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CD3D-9109-F35A-4CFC-13B71176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BDE0-43CB-D5A9-0C7D-B5C88B02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/>
              <a:t>Yawning Detection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634B-CC9C-7D00-0324-648BDB8EE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46209"/>
            <a:ext cx="8596668" cy="3880773"/>
          </a:xfrm>
        </p:spPr>
        <p:txBody>
          <a:bodyPr/>
          <a:lstStyle/>
          <a:p>
            <a:r>
              <a:rPr lang="en-IN" dirty="0"/>
              <a:t>Here, the yawning detection is based on the measuring of the distance between upper lip and lower lip.</a:t>
            </a:r>
          </a:p>
          <a:p>
            <a:r>
              <a:rPr lang="en-IN" dirty="0"/>
              <a:t>Larger distance between lips indicates yawning.</a:t>
            </a:r>
          </a:p>
          <a:p>
            <a:r>
              <a:rPr lang="en-IN" dirty="0"/>
              <a:t>Yawning can be categorized under fatigue indicator.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6E4E1-221A-CCAA-7023-90E44E6E0F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C25D3801-2961-5FB9-66E9-8AA1F1151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A3125-324D-7C1A-3977-CD3FBDBF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DBBAE-7C59-9755-13EE-3390615B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05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24662-4B99-9BDC-9477-EAE831E3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90EB-EB29-6C74-94E4-751EB74E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Phone Distraction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4EC74-6B81-3788-7A02-B6FB9CAEE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11040"/>
            <a:ext cx="8596668" cy="3880773"/>
          </a:xfrm>
        </p:spPr>
        <p:txBody>
          <a:bodyPr/>
          <a:lstStyle/>
          <a:p>
            <a:r>
              <a:rPr lang="en-IN" dirty="0"/>
              <a:t>Continuous downward head position indicates possible phone distraction.</a:t>
            </a:r>
          </a:p>
          <a:p>
            <a:r>
              <a:rPr lang="en-IN" dirty="0"/>
              <a:t>This can cause serious accidents due to the negligence of the driver.</a:t>
            </a:r>
          </a:p>
          <a:p>
            <a:r>
              <a:rPr lang="en-IN" dirty="0"/>
              <a:t>It can be categorized under driver negligence only. Cannot be considered to be a fatigue symptom.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0299A-3E69-5326-C83D-E985CF1B8B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9D19BD10-0705-0B4C-475A-905DC3EDF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14248-FE90-E9C9-04EE-72C25BC2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D2CB2-14E3-AF83-5056-91CCC1B9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111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FFDE-68BF-6014-7C4A-C3674C03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BFFC8-97F8-4225-E628-7EA053FF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Audio Warning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73B5-B6B1-6242-3C3F-0ABFDB94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28625"/>
            <a:ext cx="8596668" cy="3880773"/>
          </a:xfrm>
        </p:spPr>
        <p:txBody>
          <a:bodyPr/>
          <a:lstStyle/>
          <a:p>
            <a:r>
              <a:rPr lang="en-IN" dirty="0"/>
              <a:t>Two audio levels are used to alert the driver indicating different severity levels. </a:t>
            </a:r>
          </a:p>
          <a:p>
            <a:r>
              <a:rPr lang="en-IN" dirty="0"/>
              <a:t>Mild alert sound to indicate mild drowsiness.</a:t>
            </a:r>
          </a:p>
          <a:p>
            <a:r>
              <a:rPr lang="en-IN" dirty="0"/>
              <a:t>Heavy alert sound to indicate heavy drowsiness.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867A1-7E1E-3FCE-9FF9-781399A8A2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FD441C1E-E797-6D99-A67E-0DC16C226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F5649-A3D5-4EA7-51E0-96F100CBB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63899-53C9-F65C-D093-62EEB0A1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505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1B84-440C-BF0E-F5CE-5378F06D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00CF-9985-801F-A14D-2C0293CA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Proposed Model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10947-47E3-881C-BCBA-53B357892A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38C23750-209A-8B31-6D3C-9AE738024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82E70-51D2-19E7-0CE0-A0FA6B50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A37C5-5155-C6C9-5522-9B516AD46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15</a:t>
            </a:fld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B62CB7-BE93-0B76-C92F-EE2C55ACD34D}"/>
              </a:ext>
            </a:extLst>
          </p:cNvPr>
          <p:cNvGrpSpPr/>
          <p:nvPr/>
        </p:nvGrpSpPr>
        <p:grpSpPr>
          <a:xfrm>
            <a:off x="4352193" y="1995854"/>
            <a:ext cx="2954216" cy="4248873"/>
            <a:chOff x="1678272" y="2618895"/>
            <a:chExt cx="1318847" cy="295938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EBDB78-C83A-BB32-9D33-4CE6CADE00C3}"/>
                </a:ext>
              </a:extLst>
            </p:cNvPr>
            <p:cNvSpPr txBox="1"/>
            <p:nvPr/>
          </p:nvSpPr>
          <p:spPr>
            <a:xfrm>
              <a:off x="1678273" y="2618895"/>
              <a:ext cx="1318846" cy="25724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Camera 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936DFBD-8754-DDB5-A6A1-5F86F19F1CAA}"/>
                </a:ext>
              </a:extLst>
            </p:cNvPr>
            <p:cNvSpPr txBox="1"/>
            <p:nvPr/>
          </p:nvSpPr>
          <p:spPr>
            <a:xfrm>
              <a:off x="1678273" y="4620574"/>
              <a:ext cx="1318846" cy="25724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Decision</a:t>
              </a:r>
              <a:r>
                <a:rPr lang="en-IN" sz="1400" dirty="0"/>
                <a:t> </a:t>
              </a:r>
              <a:r>
                <a:rPr lang="en-IN" dirty="0"/>
                <a:t>Logic</a:t>
              </a:r>
              <a:endParaRPr lang="en-IN" sz="1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635C9B-0CB1-822C-E695-ECA678FB6736}"/>
                </a:ext>
              </a:extLst>
            </p:cNvPr>
            <p:cNvSpPr txBox="1"/>
            <p:nvPr/>
          </p:nvSpPr>
          <p:spPr>
            <a:xfrm>
              <a:off x="1678273" y="3259723"/>
              <a:ext cx="1318846" cy="25724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Face Mesh Detection</a:t>
              </a:r>
              <a:endParaRPr lang="en-IN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C5C4EF-B1B9-AC34-0637-EAA693A50472}"/>
                </a:ext>
              </a:extLst>
            </p:cNvPr>
            <p:cNvSpPr txBox="1"/>
            <p:nvPr/>
          </p:nvSpPr>
          <p:spPr>
            <a:xfrm>
              <a:off x="1678272" y="5299602"/>
              <a:ext cx="1318846" cy="278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2000" dirty="0"/>
                <a:t>Audio Warning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B705CE-7C13-EF37-B505-ADCF6ABA426B}"/>
                </a:ext>
              </a:extLst>
            </p:cNvPr>
            <p:cNvSpPr txBox="1"/>
            <p:nvPr/>
          </p:nvSpPr>
          <p:spPr>
            <a:xfrm>
              <a:off x="1678273" y="3869773"/>
              <a:ext cx="1318846" cy="45017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EAR + Mouth + Nose Analysis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B17EBD7-141B-1D0D-2D8B-C4E1F4B3552C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2337696" y="2876139"/>
              <a:ext cx="0" cy="383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7AA010B-44AA-49EB-0DD2-9278DACE6D0F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2337696" y="3516967"/>
              <a:ext cx="1873" cy="3357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869F867-BB09-B781-43BB-939F8D4F6A77}"/>
                </a:ext>
              </a:extLst>
            </p:cNvPr>
            <p:cNvCxnSpPr>
              <a:cxnSpLocks/>
            </p:cNvCxnSpPr>
            <p:nvPr/>
          </p:nvCxnSpPr>
          <p:spPr>
            <a:xfrm>
              <a:off x="2337696" y="4349078"/>
              <a:ext cx="0" cy="271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CB7A35-627D-5CAE-4D3C-F8A394E8422A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2337696" y="4877818"/>
              <a:ext cx="0" cy="4217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5426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9A02D-8939-3F97-2994-9CC90EDA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CE9E-3752-147B-8AFF-861E663DE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Features Implemented in My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58204-4F6E-CF21-6473-11602A059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14425"/>
            <a:ext cx="8596668" cy="3880773"/>
          </a:xfrm>
        </p:spPr>
        <p:txBody>
          <a:bodyPr/>
          <a:lstStyle/>
          <a:p>
            <a:r>
              <a:rPr lang="en-IN" b="1" dirty="0"/>
              <a:t>Implemented Features:</a:t>
            </a:r>
          </a:p>
          <a:p>
            <a:pPr lvl="1"/>
            <a:r>
              <a:rPr lang="en-IN" dirty="0"/>
              <a:t>Alertness detection </a:t>
            </a:r>
          </a:p>
          <a:p>
            <a:pPr lvl="1"/>
            <a:r>
              <a:rPr lang="en-IN" dirty="0"/>
              <a:t>Mild Drowsiness detection</a:t>
            </a:r>
          </a:p>
          <a:p>
            <a:pPr lvl="1"/>
            <a:r>
              <a:rPr lang="en-IN" dirty="0"/>
              <a:t>Heavy Drowsiness detection </a:t>
            </a:r>
          </a:p>
          <a:p>
            <a:pPr lvl="1"/>
            <a:r>
              <a:rPr lang="en-IN" dirty="0"/>
              <a:t>Head position monitoring </a:t>
            </a:r>
          </a:p>
          <a:p>
            <a:pPr lvl="1"/>
            <a:r>
              <a:rPr lang="en-IN" dirty="0"/>
              <a:t>Yawning detection </a:t>
            </a:r>
          </a:p>
          <a:p>
            <a:pPr lvl="1"/>
            <a:r>
              <a:rPr lang="en-IN" dirty="0"/>
              <a:t>Phone distraction warning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A6C01-03E4-3F4A-177E-91C5E1D56E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12207D9C-A7D1-E11B-96DF-17B09B0FE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1515D-9656-ECD6-5C97-50460A2E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B97CD-210C-D805-51B6-DCD9CE79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16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40AC9D-BB03-51F4-2785-3EE192DCC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294" y="2836472"/>
            <a:ext cx="4234645" cy="238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85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E24E-8D33-E3E2-D5C9-4910E4AE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BD4F-D8DE-25E9-9A88-E30167792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Advantages of Proposed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BAA6D-9D01-55D0-3B39-F4796D410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58286"/>
            <a:ext cx="8596668" cy="3880773"/>
          </a:xfrm>
        </p:spPr>
        <p:txBody>
          <a:bodyPr/>
          <a:lstStyle/>
          <a:p>
            <a:r>
              <a:rPr lang="en-IN" b="1" dirty="0"/>
              <a:t>Advantages:</a:t>
            </a:r>
          </a:p>
          <a:p>
            <a:pPr lvl="1"/>
            <a:r>
              <a:rPr lang="en-IN" dirty="0"/>
              <a:t>Low-Cost.</a:t>
            </a:r>
          </a:p>
          <a:p>
            <a:pPr lvl="1"/>
            <a:r>
              <a:rPr lang="en-IN" dirty="0"/>
              <a:t>Real-time operation.</a:t>
            </a:r>
          </a:p>
          <a:p>
            <a:pPr lvl="1"/>
            <a:r>
              <a:rPr lang="en-IN" dirty="0"/>
              <a:t>Easy implementation.</a:t>
            </a:r>
          </a:p>
          <a:p>
            <a:pPr lvl="1"/>
            <a:r>
              <a:rPr lang="en-IN" dirty="0"/>
              <a:t>Scalable to automotive industry level.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056AF-7847-406C-7204-93758F4226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E4381935-5D9E-07EA-1A32-C34544016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18FE1-0D19-4916-3FA0-13F2D1AB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59454-EF1B-D083-4DA6-221A1D5B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230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105F4-6043-13AC-9872-57C63BB3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8EC2-0315-A922-CBFD-FB96E1ED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C75C6-FC58-4321-F0F8-CE016D59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58286"/>
            <a:ext cx="8596668" cy="3880773"/>
          </a:xfrm>
        </p:spPr>
        <p:txBody>
          <a:bodyPr/>
          <a:lstStyle/>
          <a:p>
            <a:r>
              <a:rPr lang="en-IN" dirty="0"/>
              <a:t>Exact head-angle estimation </a:t>
            </a:r>
          </a:p>
          <a:p>
            <a:r>
              <a:rPr lang="en-IN" dirty="0"/>
              <a:t>Object-based phone detection </a:t>
            </a:r>
          </a:p>
          <a:p>
            <a:r>
              <a:rPr lang="en-IN" dirty="0"/>
              <a:t>Gaze tracking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61BED-9BDF-9C92-CF34-1DB461C427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4B5B5E5E-E400-FAA8-11C7-6EAB84089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BB524-8FE6-5B6D-703D-3DFA8F2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30AED-79A4-64BD-F6CA-B435FE89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451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5EA9F-8F9D-88F7-AE0C-7E49D16B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B871-5001-67CB-1BCD-738E1888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1100"/>
            <a:ext cx="8596668" cy="13208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CFFD-6081-2F95-6086-93B4D0D7F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58286"/>
            <a:ext cx="8596668" cy="3880773"/>
          </a:xfrm>
        </p:spPr>
        <p:txBody>
          <a:bodyPr/>
          <a:lstStyle/>
          <a:p>
            <a:r>
              <a:rPr lang="en-IN" dirty="0"/>
              <a:t>The proposed DMS continuously monitors driver psychological and behavioural indicators and generates progressive warnings to improve active safety.</a:t>
            </a:r>
          </a:p>
          <a:p>
            <a:r>
              <a:rPr lang="en-IN" dirty="0"/>
              <a:t>This Prototype demonstrates practical driver fatigue detection using computer vision.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03C214-FB39-2F29-8172-45922F6D57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AAC2CD61-D44E-E5BF-E0DF-FB349FF8A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8A486-4DE6-62C3-3EC5-63DD39DBA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732BF-3A1B-7A53-270C-A0B13003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982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74BD-344E-E4BD-2589-80A7502B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3DE2-B7BD-2792-F999-B8F0CD101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63" y="1946030"/>
            <a:ext cx="9142514" cy="3604381"/>
          </a:xfrm>
        </p:spPr>
        <p:txBody>
          <a:bodyPr>
            <a:normAutofit/>
          </a:bodyPr>
          <a:lstStyle/>
          <a:p>
            <a:pPr algn="ctr"/>
            <a:r>
              <a:rPr lang="en-IN" sz="6600" dirty="0"/>
              <a:t>THANK YOU </a:t>
            </a:r>
            <a:br>
              <a:rPr lang="en-IN" sz="6600" dirty="0"/>
            </a:br>
            <a:br>
              <a:rPr lang="en-IN" sz="6600" dirty="0"/>
            </a:br>
            <a:r>
              <a:rPr lang="en-IN" sz="6600" dirty="0"/>
              <a:t>Q&amp;A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B40F9-5956-F8AA-DE8C-55F9257CFE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26" y="340434"/>
            <a:ext cx="1889125" cy="54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-image">
            <a:extLst>
              <a:ext uri="{FF2B5EF4-FFF2-40B4-BE49-F238E27FC236}">
                <a16:creationId xmlns:a16="http://schemas.microsoft.com/office/drawing/2014/main" id="{A7C9223D-44F6-7DB0-ED8B-78B5B46A0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146" y="340434"/>
            <a:ext cx="1098550" cy="620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638F9-8D73-40BC-929D-83CCCA30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Rani Uddarsh, MTech AT, 25070152008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A3D7F-7701-5D8A-137A-C3A7E925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74D8-7D47-4AAB-8FDA-7C67B3944D9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997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154</TotalTime>
  <Words>795</Words>
  <Application>Microsoft Office PowerPoint</Application>
  <PresentationFormat>Widescreen</PresentationFormat>
  <Paragraphs>171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Times New Roman</vt:lpstr>
      <vt:lpstr>Wingdings</vt:lpstr>
      <vt:lpstr>Wingdings 3</vt:lpstr>
      <vt:lpstr>Facet</vt:lpstr>
      <vt:lpstr>Driver Monitoring System  Real-Time Driver Alertness and Drowsiness Monitoring Using Facial Landmarks</vt:lpstr>
      <vt:lpstr>Driver Monitoring System (DMS)</vt:lpstr>
      <vt:lpstr>Why DMS is required?</vt:lpstr>
      <vt:lpstr>Basic Components of DMS</vt:lpstr>
      <vt:lpstr>Basic Working Principle of DMS</vt:lpstr>
      <vt:lpstr>Facial Landmark Detection</vt:lpstr>
      <vt:lpstr>Eye Landmark References Used </vt:lpstr>
      <vt:lpstr>Eye Aspect Ratio (EAR)</vt:lpstr>
      <vt:lpstr>EAR Threshold Values referred</vt:lpstr>
      <vt:lpstr>Multi-Level Drowsiness Detection</vt:lpstr>
      <vt:lpstr>Head Position Detection </vt:lpstr>
      <vt:lpstr>Yawning Detection </vt:lpstr>
      <vt:lpstr>Phone Distraction Detection</vt:lpstr>
      <vt:lpstr>Audio Warning Strategy</vt:lpstr>
      <vt:lpstr>Proposed Model Architecture</vt:lpstr>
      <vt:lpstr>Features Implemented in My Model</vt:lpstr>
      <vt:lpstr>Advantages of Proposed Model </vt:lpstr>
      <vt:lpstr>Future Scope</vt:lpstr>
      <vt:lpstr>Conclusion</vt:lpstr>
      <vt:lpstr>THANK YOU  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Uddarsh r</dc:creator>
  <cp:lastModifiedBy>Uddarsh r</cp:lastModifiedBy>
  <cp:revision>2</cp:revision>
  <dcterms:created xsi:type="dcterms:W3CDTF">2026-03-22T12:27:06Z</dcterms:created>
  <dcterms:modified xsi:type="dcterms:W3CDTF">2026-03-22T16:27:11Z</dcterms:modified>
</cp:coreProperties>
</file>